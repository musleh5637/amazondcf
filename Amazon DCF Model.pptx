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AMAZON.COM, INC.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Discounted Cash Flow Valuation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5029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28600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161B22"/>
          </a:solidFill>
          <a:ln w="12700">
            <a:solidFill>
              <a:srgbClr val="FF99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23957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 Revenue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263347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$638.0B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94360" y="31089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B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+10.9% YoY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37560" y="228600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161B22"/>
          </a:solidFill>
          <a:ln w="12700">
            <a:solidFill>
              <a:srgbClr val="FF99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23957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Income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74720" y="263347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$68.6B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474720" y="31089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B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+86% YoY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0" y="228600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161B22"/>
          </a:solidFill>
          <a:ln w="12700">
            <a:solidFill>
              <a:srgbClr val="FF99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55080" y="23957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55080" y="263347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$59.2B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355080" y="31089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B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+95% YoY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098280" y="228600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161B22"/>
          </a:solidFill>
          <a:ln w="12700">
            <a:solidFill>
              <a:srgbClr val="FF99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235440" y="23957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Target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235440" y="263347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$170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235440" y="31089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B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Estimate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3749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Amazon.com 10-K FY2024 (SEC Filing)  |  WACC: 9.2%  |  Terminal Growth: 3.5%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0" y="5029200"/>
            <a:ext cx="7386806" cy="201168"/>
          </a:xfrm>
          <a:prstGeom prst="rect">
            <a:avLst/>
          </a:prstGeom>
          <a:solidFill>
            <a:srgbClr val="FF9900">
              <a:alpha val="60000"/>
            </a:srgbClr>
          </a:solidFill>
          <a:ln w="12700">
            <a:solidFill>
              <a:srgbClr val="FF9900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5303520"/>
            <a:ext cx="2051330" cy="201168"/>
          </a:xfrm>
          <a:prstGeom prst="rect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577840"/>
            <a:ext cx="2723383" cy="201168"/>
          </a:xfrm>
          <a:prstGeom prst="rect">
            <a:avLst/>
          </a:prstGeom>
          <a:solidFill>
            <a:srgbClr val="2FB344">
              <a:alpha val="60000"/>
            </a:srgbClr>
          </a:solidFill>
          <a:ln w="12700">
            <a:solidFill>
              <a:srgbClr val="2FB344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" y="502920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America  $387.5B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82880" y="530352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 $107.6B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" y="55778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FB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 $142.9B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6821424"/>
            <a:ext cx="1216152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TICKER: AMZN  |  NASDAQ  |  Fiscal Year Ending December 31, 2024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OVERVIEW &amp; SEGMENT ANALYSIS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10972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 10-K Data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548640"/>
            <a:ext cx="3657600" cy="1920240"/>
          </a:xfrm>
          <a:prstGeom prst="roundRect">
            <a:avLst>
              <a:gd name="adj" fmla="val 4762"/>
            </a:avLst>
          </a:prstGeom>
          <a:solidFill>
            <a:srgbClr val="161B22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548640"/>
            <a:ext cx="3657600" cy="320040"/>
          </a:xfrm>
          <a:prstGeom prst="rect">
            <a:avLst/>
          </a:prstGeom>
          <a:solidFill>
            <a:srgbClr val="FF9900">
              <a:alpha val="70000"/>
            </a:srgbClr>
          </a:solidFill>
          <a:ln w="12700">
            <a:solidFill>
              <a:srgbClr val="FF9900">
                <a:alpha val="7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57607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America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96012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111556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$387.5B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11480" y="150876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Income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103120" y="150876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Op. Margin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1691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$25.0B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03120" y="1691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B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6.5%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33672" y="548640"/>
            <a:ext cx="3657600" cy="1920240"/>
          </a:xfrm>
          <a:prstGeom prst="roundRect">
            <a:avLst>
              <a:gd name="adj" fmla="val 4762"/>
            </a:avLst>
          </a:prstGeom>
          <a:solidFill>
            <a:srgbClr val="161B22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33672" y="548640"/>
            <a:ext cx="3657600" cy="320040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70832" y="57607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70832" y="96012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370832" y="111556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$107.6B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370832" y="150876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Income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062472" y="150876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Op. Margin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370832" y="1691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$39.8B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62472" y="1691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B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37.0%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193024" y="548640"/>
            <a:ext cx="3657600" cy="1920240"/>
          </a:xfrm>
          <a:prstGeom prst="roundRect">
            <a:avLst>
              <a:gd name="adj" fmla="val 4762"/>
            </a:avLst>
          </a:prstGeom>
          <a:solidFill>
            <a:srgbClr val="161B22"/>
          </a:solidFill>
          <a:ln w="19050">
            <a:solidFill>
              <a:srgbClr val="2FB3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93024" y="548640"/>
            <a:ext cx="3657600" cy="320040"/>
          </a:xfrm>
          <a:prstGeom prst="rect">
            <a:avLst/>
          </a:prstGeom>
          <a:solidFill>
            <a:srgbClr val="2FB344">
              <a:alpha val="70000"/>
            </a:srgbClr>
          </a:solidFill>
          <a:ln w="12700">
            <a:solidFill>
              <a:srgbClr val="2FB344">
                <a:alpha val="7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30184" y="57607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330184" y="96012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330184" y="111556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B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$142.9B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330184" y="150876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Income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021824" y="150876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Op. Margin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330184" y="1691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$3.8B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021824" y="1691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B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2.6%</a:t>
            </a:r>
            <a:endParaRPr lang="en-US" sz="1400" dirty="0"/>
          </a:p>
        </p:txBody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606040"/>
            <a:ext cx="5029200" cy="2377440"/>
          </a:xfrm>
          <a:prstGeom prst="rect">
            <a:avLst/>
          </a:prstGeom>
        </p:spPr>
      </p:pic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606040"/>
            <a:ext cx="5029200" cy="2377440"/>
          </a:xfrm>
          <a:prstGeom prst="rect">
            <a:avLst/>
          </a:prstGeom>
        </p:spPr>
      </p:pic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2560320"/>
            <a:ext cx="1600200" cy="2468880"/>
          </a:xfrm>
          <a:prstGeom prst="rect">
            <a:avLst/>
          </a:prstGeom>
        </p:spPr>
      </p:pic>
      <p:sp>
        <p:nvSpPr>
          <p:cNvPr id="35" name="Shape 30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365760" y="6656832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Amazon.com, Inc. Form 10-K (FY2024) filed February 6, 2025 with the SEC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INCOME STATEMENT SUMMARY  ($ millions)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502920"/>
          <a:ext cx="11612880" cy="4480560"/>
        </p:xfrm>
        <a:graphic>
          <a:graphicData uri="http://schemas.openxmlformats.org/drawingml/2006/table">
            <a:tbl>
              <a:tblPr/>
              <a:tblGrid>
                <a:gridCol w="2011680"/>
                <a:gridCol w="1920240"/>
                <a:gridCol w="1920240"/>
                <a:gridCol w="1920240"/>
                <a:gridCol w="1920240"/>
                <a:gridCol w="19202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Sales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$386,065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$469,822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$513,983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$574,785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$637,959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Profit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$152,758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$197,478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$225,152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$270,046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$311,671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Income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$22,899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$24,879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$12,248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$36,852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FB3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$68,593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Margin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FB3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$48,150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$59,312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$54,169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$89,439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$127,971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Margin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Income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$21,331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$33,364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851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$(2,722)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$30,425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$59,248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D&amp;A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$25,251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$34,433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$41,921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$52,587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$59,378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$40,140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$61,053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$63,645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$52,729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$77,366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Cash Flow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$66,064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$46,327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$46,752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$84,946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$115,879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507492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sourced directly from Amazon.com, Inc. Form 10-K filings with the SEC (FY2020–FY2024). FY2022 net loss driven by Rivian equity markdowns.</a:t>
            </a:r>
            <a:endParaRPr lang="en-US" sz="7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5349240"/>
            <a:ext cx="6400800" cy="137160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5349240"/>
            <a:ext cx="50292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MODEL — ASSUMPTIONS &amp; PROJECTED FREE CASH FLOWS  ($ millions)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502920"/>
            <a:ext cx="3200400" cy="5120640"/>
          </a:xfrm>
          <a:prstGeom prst="roundRect">
            <a:avLst>
              <a:gd name="adj" fmla="val 2857"/>
            </a:avLst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5943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ASSUMPTIONS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40280" y="96012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9.2%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11480" y="11658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Growth Rate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240280" y="116586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3.5%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13716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Horizon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240280" y="137160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Years (2025–2029)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15773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Rate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240280" y="15773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20.0%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184708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20528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2025E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240280" y="205282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12.0%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225856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2026E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240280" y="22585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11.0%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24643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2027E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240280" y="246430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10.0%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26700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2028E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240280" y="267004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10.0%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11480" y="287578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2029E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240280" y="287578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9.0%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11480" y="314553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11480" y="335127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2025E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240280" y="335127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21.5%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11480" y="355701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2026E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240280" y="355701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22.5%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11480" y="376275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2027E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240280" y="376275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23.5%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11480" y="396849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2028E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240280" y="396849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24.0%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11480" y="417423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2029E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240280" y="417423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24.5%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11480" y="444398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/ Revenue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240280" y="444398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9.0–11.0%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11480" y="464972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D&amp;A / Revenue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240280" y="464972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7.9–8.8%</a:t>
            </a:r>
            <a:endParaRPr lang="en-US" sz="8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502920"/>
          <a:ext cx="8229600" cy="5120640"/>
        </p:xfrm>
        <a:graphic>
          <a:graphicData uri="http://schemas.openxmlformats.org/drawingml/2006/table">
            <a:tbl>
              <a:tblPr/>
              <a:tblGrid>
                <a:gridCol w="2011680"/>
                <a:gridCol w="1243584"/>
                <a:gridCol w="1243584"/>
                <a:gridCol w="1243584"/>
                <a:gridCol w="1243584"/>
                <a:gridCol w="1243584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$715B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$793B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$872B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$960B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$1046B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$154B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$178B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$205B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$230B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$256B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Margin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851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Less: D&amp;A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851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-$63B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851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-$68B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851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-$72B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851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-$78B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851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-$83B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$91B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$110B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$133B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$153B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$174B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851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Less: Taxes (20%)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851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-$18B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851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-$22B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851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-$27B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851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-$31B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851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-$35B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NOPAT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$73B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$88B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$106B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$122B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$139B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Add: D&amp;A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+$63B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+$68B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+$72B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+$78B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+$83B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851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Less: Capex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851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-$79B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851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-$83B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851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-$87B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851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-$91B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851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-$94B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851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Less: ΔNWC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$-2.5B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$-2.8B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$-3.0B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$-3.2B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$-3.4B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9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Cash Flow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$54B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$88B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$105B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$124B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 Factor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9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PV of FCF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9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9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$59B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9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$68B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9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$74B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9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</a:tr>
            </a:tbl>
          </a:graphicData>
        </a:graphic>
      </p:graphicFrame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5669280"/>
            <a:ext cx="3931920" cy="1005840"/>
          </a:xfrm>
          <a:prstGeom prst="rect">
            <a:avLst/>
          </a:prstGeom>
        </p:spPr>
      </p:pic>
      <p:sp>
        <p:nvSpPr>
          <p:cNvPr id="42" name="Shape 38"/>
          <p:cNvSpPr/>
          <p:nvPr/>
        </p:nvSpPr>
        <p:spPr>
          <a:xfrm>
            <a:off x="4389120" y="5669280"/>
            <a:ext cx="7498080" cy="1005840"/>
          </a:xfrm>
          <a:prstGeom prst="roundRect">
            <a:avLst>
              <a:gd name="adj" fmla="val 7273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4526280" y="573328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of FCFs</a:t>
            </a:r>
            <a:endParaRPr lang="en-US" sz="750" dirty="0"/>
          </a:p>
        </p:txBody>
      </p:sp>
      <p:sp>
        <p:nvSpPr>
          <p:cNvPr id="44" name="Text 40"/>
          <p:cNvSpPr/>
          <p:nvPr/>
        </p:nvSpPr>
        <p:spPr>
          <a:xfrm>
            <a:off x="4526280" y="592531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$331B</a:t>
            </a:r>
            <a:endParaRPr lang="en-US" sz="1400" dirty="0"/>
          </a:p>
        </p:txBody>
      </p:sp>
      <p:sp>
        <p:nvSpPr>
          <p:cNvPr id="45" name="Text 41"/>
          <p:cNvSpPr/>
          <p:nvPr/>
        </p:nvSpPr>
        <p:spPr>
          <a:xfrm>
            <a:off x="5788152" y="573328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Terminal Value</a:t>
            </a:r>
            <a:endParaRPr lang="en-US" sz="750" dirty="0"/>
          </a:p>
        </p:txBody>
      </p:sp>
      <p:sp>
        <p:nvSpPr>
          <p:cNvPr id="46" name="Text 42"/>
          <p:cNvSpPr/>
          <p:nvPr/>
        </p:nvSpPr>
        <p:spPr>
          <a:xfrm>
            <a:off x="5788152" y="592531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$1450B</a:t>
            </a:r>
            <a:endParaRPr lang="en-US" sz="1400" dirty="0"/>
          </a:p>
        </p:txBody>
      </p:sp>
      <p:sp>
        <p:nvSpPr>
          <p:cNvPr id="47" name="Text 43"/>
          <p:cNvSpPr/>
          <p:nvPr/>
        </p:nvSpPr>
        <p:spPr>
          <a:xfrm>
            <a:off x="7050024" y="573328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Value</a:t>
            </a:r>
            <a:endParaRPr lang="en-US" sz="750" dirty="0"/>
          </a:p>
        </p:txBody>
      </p:sp>
      <p:sp>
        <p:nvSpPr>
          <p:cNvPr id="48" name="Text 44"/>
          <p:cNvSpPr/>
          <p:nvPr/>
        </p:nvSpPr>
        <p:spPr>
          <a:xfrm>
            <a:off x="7050024" y="592531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$1781B</a:t>
            </a:r>
            <a:endParaRPr lang="en-US" sz="1400" dirty="0"/>
          </a:p>
        </p:txBody>
      </p:sp>
      <p:sp>
        <p:nvSpPr>
          <p:cNvPr id="49" name="Text 45"/>
          <p:cNvSpPr/>
          <p:nvPr/>
        </p:nvSpPr>
        <p:spPr>
          <a:xfrm>
            <a:off x="8311896" y="573328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Value</a:t>
            </a:r>
            <a:endParaRPr lang="en-US" sz="750" dirty="0"/>
          </a:p>
        </p:txBody>
      </p:sp>
      <p:sp>
        <p:nvSpPr>
          <p:cNvPr id="50" name="Text 46"/>
          <p:cNvSpPr/>
          <p:nvPr/>
        </p:nvSpPr>
        <p:spPr>
          <a:xfrm>
            <a:off x="8311896" y="592531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$1801B</a:t>
            </a:r>
            <a:endParaRPr lang="en-US" sz="1400" dirty="0"/>
          </a:p>
        </p:txBody>
      </p:sp>
      <p:sp>
        <p:nvSpPr>
          <p:cNvPr id="51" name="Text 47"/>
          <p:cNvSpPr/>
          <p:nvPr/>
        </p:nvSpPr>
        <p:spPr>
          <a:xfrm>
            <a:off x="9573768" y="573328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(M)</a:t>
            </a:r>
            <a:endParaRPr lang="en-US" sz="750" dirty="0"/>
          </a:p>
        </p:txBody>
      </p:sp>
      <p:sp>
        <p:nvSpPr>
          <p:cNvPr id="52" name="Text 48"/>
          <p:cNvSpPr/>
          <p:nvPr/>
        </p:nvSpPr>
        <p:spPr>
          <a:xfrm>
            <a:off x="9573768" y="592531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10571</a:t>
            </a:r>
            <a:endParaRPr lang="en-US" sz="1400" dirty="0"/>
          </a:p>
        </p:txBody>
      </p:sp>
      <p:sp>
        <p:nvSpPr>
          <p:cNvPr id="53" name="Text 49"/>
          <p:cNvSpPr/>
          <p:nvPr/>
        </p:nvSpPr>
        <p:spPr>
          <a:xfrm>
            <a:off x="10835640" y="573328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Target</a:t>
            </a:r>
            <a:endParaRPr lang="en-US" sz="750" dirty="0"/>
          </a:p>
        </p:txBody>
      </p:sp>
      <p:sp>
        <p:nvSpPr>
          <p:cNvPr id="54" name="Text 50"/>
          <p:cNvSpPr/>
          <p:nvPr/>
        </p:nvSpPr>
        <p:spPr>
          <a:xfrm>
            <a:off x="10835640" y="592531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$170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VALUATION BRIDGE &amp; SENSITIVITY ANALYSIS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502920"/>
            <a:ext cx="5029200" cy="2926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0" y="502920"/>
            <a:ext cx="6217920" cy="3017520"/>
          </a:xfrm>
          <a:prstGeom prst="roundRect">
            <a:avLst>
              <a:gd name="adj" fmla="val 3030"/>
            </a:avLst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06440" y="59436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SENSITIVITY: Share Price vs. WACC × Terminal Growth Rate</a:t>
            </a:r>
            <a:endParaRPr lang="en-US" sz="9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914400"/>
          <a:ext cx="6035040" cy="2468880"/>
        </p:xfrm>
        <a:graphic>
          <a:graphicData uri="http://schemas.openxmlformats.org/drawingml/2006/table">
            <a:tbl>
              <a:tblPr/>
              <a:tblGrid>
                <a:gridCol w="1097280"/>
                <a:gridCol w="1234440"/>
                <a:gridCol w="1234440"/>
                <a:gridCol w="1234440"/>
                <a:gridCol w="123444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WACC \ TGR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E3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3520440"/>
            <a:ext cx="11612880" cy="1920240"/>
          </a:xfrm>
          <a:prstGeom prst="roundRect">
            <a:avLst>
              <a:gd name="adj" fmla="val 4762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57200" y="36118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SUMMARY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57200" y="39136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PV of FCFs (2025–2029)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457200" y="4160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$330.6B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2377440" y="39136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of Terminal Value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2377440" y="4160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$1450.1B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297680" y="39136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Value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4297680" y="4160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$1780.7B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6217920" y="39136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Less: Net Debt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6217920" y="4160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$-20.7B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8138160" y="39136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Value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8138160" y="4160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B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$1801.3B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10058400" y="39136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Price Target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10058400" y="4160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$170</a:t>
            </a:r>
            <a:endParaRPr lang="en-US" sz="2400" dirty="0"/>
          </a:p>
        </p:txBody>
      </p:sp>
      <p:sp>
        <p:nvSpPr>
          <p:cNvPr id="22" name="Text 18"/>
          <p:cNvSpPr/>
          <p:nvPr/>
        </p:nvSpPr>
        <p:spPr>
          <a:xfrm>
            <a:off x="457200" y="464515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Value = 81% of Enterprise Value  |  FCF CAGR (2024–2029): 22.9%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274320" y="5532120"/>
            <a:ext cx="11612880" cy="109728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57200" y="55961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MULTIPLES CHECK (FY2024)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457200" y="562356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EV/EBITDA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457200" y="58064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~17x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457200" y="60716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Peers: 15–22x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2761488" y="562356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EV/Revenue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2761488" y="58064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~3.3x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2761488" y="60716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Peers: 2.5–4.0x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5065776" y="562356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P/E (NTM)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5065776" y="58064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~35x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5065776" y="60716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Peers: 30–45x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7370064" y="562356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P/FCF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7370064" y="58064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~45x</a:t>
            </a:r>
            <a:endParaRPr lang="en-US" sz="1400" dirty="0"/>
          </a:p>
        </p:txBody>
      </p:sp>
      <p:sp>
        <p:nvSpPr>
          <p:cNvPr id="36" name="Text 32"/>
          <p:cNvSpPr/>
          <p:nvPr/>
        </p:nvSpPr>
        <p:spPr>
          <a:xfrm>
            <a:off x="7370064" y="60716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premium</a:t>
            </a:r>
            <a:endParaRPr lang="en-US" sz="750" dirty="0"/>
          </a:p>
        </p:txBody>
      </p:sp>
      <p:sp>
        <p:nvSpPr>
          <p:cNvPr id="37" name="Text 33"/>
          <p:cNvSpPr/>
          <p:nvPr/>
        </p:nvSpPr>
        <p:spPr>
          <a:xfrm>
            <a:off x="9674352" y="562356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EV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9674352" y="58064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~$700B+</a:t>
            </a:r>
            <a:endParaRPr lang="en-US" sz="1400" dirty="0"/>
          </a:p>
        </p:txBody>
      </p:sp>
      <p:sp>
        <p:nvSpPr>
          <p:cNvPr id="39" name="Text 35"/>
          <p:cNvSpPr/>
          <p:nvPr/>
        </p:nvSpPr>
        <p:spPr>
          <a:xfrm>
            <a:off x="9674352" y="60716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~25× EBITDA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THESIS &amp; KEY RISKS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502920"/>
            <a:ext cx="5486400" cy="3383280"/>
          </a:xfrm>
          <a:prstGeom prst="roundRect">
            <a:avLst>
              <a:gd name="adj" fmla="val 2703"/>
            </a:avLst>
          </a:prstGeom>
          <a:solidFill>
            <a:srgbClr val="161B22"/>
          </a:solidFill>
          <a:ln w="19050">
            <a:solidFill>
              <a:srgbClr val="2FB3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5943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B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BULL CASE — Key Growth Drivers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Hyper-Growth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20700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workloads accelerating cloud adoption; AWS growing 19% YoY with 37% operating margin. GenAI services expanding TAM.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160020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 Monetization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80136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revenue ~$56B in 2024, growing 18% YoY. High-margin stream with significant scaling potential.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11480" y="219456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Expansion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239572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margin climbed from 2.4% (2022) to 10.8% (2024). Automation and logistics optimization drive further upside.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11480" y="27889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Opportunity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299008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segment turned profitable in 2024 ($3.8B OI). India, LatAm, and emerging markets represent long runway.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11480" y="338328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&amp; Flywheel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358444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175M+ Prime members globally. Subscription + 3P seller + logistics creates compounding network effects.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126480" y="502920"/>
            <a:ext cx="5486400" cy="3383280"/>
          </a:xfrm>
          <a:prstGeom prst="roundRect">
            <a:avLst>
              <a:gd name="adj" fmla="val 2703"/>
            </a:avLst>
          </a:prstGeom>
          <a:solidFill>
            <a:srgbClr val="161B22"/>
          </a:solidFill>
          <a:ln w="1905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63640" y="5943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BEAR CASE — Key Risks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100584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Risk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63640" y="120700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Antitrust scrutiny in US, EU, and India. FTC lawsuit over marketplace practices. Potential forced restructuring of AWS/marketplace.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263640" y="160020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Intensity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63640" y="180136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 capex surged to $77.4B (+47% YoY) for AI infrastructure. Execution risk on ROI timelines for data center buildout.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263640" y="219456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Competition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63640" y="239572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 (28% market share) and Google Cloud growing faster in AI workloads. Margin pressure possible.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263640" y="27889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Slowdown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63640" y="299008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segment (~60% of revenue) sensitive to economic cycles. Discretionary spend compression in recession scenarios.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263640" y="338328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Premium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63640" y="358444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pricing in optimistic long-term scenario. Meaningful de-rating risk if growth disappoints or rates stay elevated.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74320" y="3977640"/>
            <a:ext cx="11612880" cy="2194560"/>
          </a:xfrm>
          <a:prstGeom prst="roundRect">
            <a:avLst>
              <a:gd name="adj" fmla="val 4167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0690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  |  FY2024 vs. FY2023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4074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7200" y="459028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$638.0B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" y="48646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B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$574.8B  +10.9%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395728" y="44074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395728" y="459028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48.8%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395728" y="48646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B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47.0%  +180bps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334256" y="44074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Op. Margin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334256" y="459028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10.8%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334256" y="48646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B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6.4%  +440bps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272784" y="44074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Cash Flow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272784" y="459028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$38.5B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272784" y="48646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B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$32.2B  +19.6%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8211312" y="44074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Growth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211312" y="459028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19.0%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211312" y="48646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B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13.2%  +580bps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0149840" y="44074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Revenue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0149840" y="459028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$56.2B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0149840" y="48646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B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$46.9B  +19.8%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6611112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</a:t>
            </a:r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DCF analysis is for informational purposes only and does not constitute investment advice. All financial data sourced from Amazon.com, Inc. Form 10-K filed February 6, 2025 with the SEC. Projections involve significant uncertainty.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(AMZN) DCF Valuation</dc:title>
  <dc:subject>PptxGenJS Presentation</dc:subject>
  <dc:creator>Financial Analysis</dc:creator>
  <cp:lastModifiedBy>Financial Analysis</cp:lastModifiedBy>
  <cp:revision>1</cp:revision>
  <dcterms:created xsi:type="dcterms:W3CDTF">2026-06-09T06:54:47Z</dcterms:created>
  <dcterms:modified xsi:type="dcterms:W3CDTF">2026-06-09T06:54:47Z</dcterms:modified>
</cp:coreProperties>
</file>